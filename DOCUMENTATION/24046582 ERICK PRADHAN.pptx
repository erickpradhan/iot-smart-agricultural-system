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4" r:id="rId7"/>
    <p:sldId id="262" r:id="rId8"/>
    <p:sldId id="265" r:id="rId9"/>
    <p:sldId id="266" r:id="rId10"/>
    <p:sldId id="267" r:id="rId11"/>
    <p:sldId id="263" r:id="rId12"/>
    <p:sldId id="26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89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784F-6316-41F2-34BF-7D8298C50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977DD-FCB3-8BCD-6EB9-FFCB1768E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8DA92-7EF4-494B-694E-246670C9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560F-F65E-A8FF-6D08-033B142B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0F090-7870-ABEC-0D2C-7C9933E96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ABDD-5E12-A4BE-8094-C13FE60B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E61C-94F0-3E59-6E4C-FA0C1811D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58463-1E7B-02EA-D082-5379B6C9F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310E6-1FA4-6739-A013-D427726D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53D4D-8415-DFC9-589C-28AAF648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8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218B-FA89-EA42-24C4-17CE736C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6AF0F-13D5-36A6-6D85-EE6639588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DF8FB-1120-E944-1678-8993A163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7B019-A3EA-8DFD-05BA-122C5CA5E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46FE-74AC-8F32-C488-A404A591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5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F0EE-070D-3118-9FE7-54E0E58A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8D15-9B1D-CBE0-DD9E-46A1D761A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42D6D-3E17-2798-B219-D31786183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B8913-83AF-01F0-2467-584833E6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9A21-797D-A38D-771C-CC568850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3E0CB-CCAD-931A-0387-B33103DE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9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C812-7C4B-4EA6-935A-1FA535F1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0B92A-46B5-95EB-6E8F-C8A457A03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78EAF-4B2C-13CB-C566-BBCD46600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8B3D1-D5ED-BF02-932A-879674B75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0DCB4-41ED-4659-D77C-1D0C67054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B9F01-6559-315B-6350-BBD1078C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05C9E-813A-31CF-3F65-5DC42110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556EDB-08AF-4056-67FF-5457B275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311C-18BC-526D-416E-D99EC623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3FF55-BDCC-603A-DB88-0D8FABE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B483F-1E06-55FF-E188-27B9ACD2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5DFBE-C304-8702-B144-0BD2E8F4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ED524-A984-5A31-46AA-A2493C42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C9727-9665-6531-C894-4C41F528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845C-FEC7-A44E-9F6B-14BE9C34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6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EAA6-450D-1054-E40A-527E63C4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BF12-73EE-90ED-EB0B-4D5109D8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8F67A-3901-6A4F-803B-6591D5D23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36ED-D90F-B680-8D72-D56C9315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AD796-2A58-6D43-15AC-75359BEE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C9E8A-9CED-F362-DD85-E892945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6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AB4E-A093-1CA8-A592-ACDE3E99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2A52D-0EDD-C88B-9242-3A58D787E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DE794-9B68-C874-611B-B26A6074C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21AE-F260-43CC-1451-2D07F843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E305D-228E-7C57-7786-90DB86BF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BEF4E-ACE6-AE47-047D-535826A2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7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80B5A-0CA0-0BEA-CDD1-D3BFBCCE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40CAD-D887-D634-927F-F1F7B7A03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CE9F-4763-3630-6A79-F01A182C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E88F2-79AD-620B-F65D-D7BCB77C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37BA3-D098-26F2-8792-14532E6E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1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32BFF-83C1-1B85-4443-729963D8D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5BCA1-DCB5-907B-B774-6DD352533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3AA96-967B-93A1-D9E6-0D1496E5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47A3A-D55C-C843-4356-B44C8727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16956-B473-6C84-CC8C-376A7C01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5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97403-2EFB-F38A-C336-2113738E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CC631-A81B-9FF0-DC67-3A5B20E5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F009-04F3-E2A4-F589-D4049953D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F2CEF-95B4-4B73-A383-B759B1EFCA5A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82BF-3768-E548-4605-F1CE38201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04627-B5EF-41AD-764A-2AEAF5C70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F1E53-07DD-4BBC-BBD0-B1D2E009F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4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938A43DF-D794-A880-BEE3-3754CFC069EA}"/>
              </a:ext>
            </a:extLst>
          </p:cNvPr>
          <p:cNvGrpSpPr/>
          <p:nvPr/>
        </p:nvGrpSpPr>
        <p:grpSpPr>
          <a:xfrm>
            <a:off x="-1270342" y="0"/>
            <a:ext cx="2905237" cy="6858000"/>
            <a:chOff x="9747737" y="0"/>
            <a:chExt cx="2875280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D92274-C0C6-4F0C-51F1-62AA11CC1833}"/>
                </a:ext>
              </a:extLst>
            </p:cNvPr>
            <p:cNvSpPr>
              <a:spLocks/>
            </p:cNvSpPr>
            <p:nvPr/>
          </p:nvSpPr>
          <p:spPr>
            <a:xfrm rot="5400000">
              <a:off x="7756377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934720 w 6858000"/>
                <a:gd name="connsiteY2" fmla="*/ 436880 h 2875280"/>
                <a:gd name="connsiteX3" fmla="*/ 1391920 w 6858000"/>
                <a:gd name="connsiteY3" fmla="*/ 0 h 2875280"/>
                <a:gd name="connsiteX4" fmla="*/ 184912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934720" y="436880"/>
                  </a:lnTo>
                  <a:lnTo>
                    <a:pt x="1391920" y="0"/>
                  </a:lnTo>
                  <a:lnTo>
                    <a:pt x="184912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46BBF7-AED3-1E63-C91C-3BA6454E8CF1}"/>
                </a:ext>
              </a:extLst>
            </p:cNvPr>
            <p:cNvSpPr txBox="1"/>
            <p:nvPr/>
          </p:nvSpPr>
          <p:spPr>
            <a:xfrm>
              <a:off x="10398283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7AB6E3-0B0F-EB60-B1F2-6BED8C0DD7D1}"/>
                </a:ext>
              </a:extLst>
            </p:cNvPr>
            <p:cNvSpPr txBox="1"/>
            <p:nvPr/>
          </p:nvSpPr>
          <p:spPr>
            <a:xfrm>
              <a:off x="10036572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Conclusion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20C0A3-2D54-5523-8702-3F7445038166}"/>
                </a:ext>
              </a:extLst>
            </p:cNvPr>
            <p:cNvSpPr txBox="1"/>
            <p:nvPr/>
          </p:nvSpPr>
          <p:spPr>
            <a:xfrm>
              <a:off x="10190479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Adoption of IoT in agriculture explains a significant step towards modernizing traditional farming practices by utilizing real time data from sensors.</a:t>
              </a:r>
            </a:p>
          </p:txBody>
        </p:sp>
        <p:pic>
          <p:nvPicPr>
            <p:cNvPr id="50" name="Graphic 49" descr="Statistics with solid fill">
              <a:extLst>
                <a:ext uri="{FF2B5EF4-FFF2-40B4-BE49-F238E27FC236}">
                  <a16:creationId xmlns:a16="http://schemas.microsoft.com/office/drawing/2014/main" id="{86EA700F-913A-8CD0-7E9E-8DE72C3B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9020" y="5774027"/>
              <a:ext cx="694450" cy="6944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68A5891-B6D0-AA7E-3B51-424C006122AA}"/>
              </a:ext>
            </a:extLst>
          </p:cNvPr>
          <p:cNvGrpSpPr/>
          <p:nvPr/>
        </p:nvGrpSpPr>
        <p:grpSpPr>
          <a:xfrm>
            <a:off x="-1521782" y="0"/>
            <a:ext cx="2905237" cy="6858000"/>
            <a:chOff x="7279595" y="0"/>
            <a:chExt cx="2875280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69067C2-CA8B-624C-6630-5E448CB15119}"/>
                </a:ext>
              </a:extLst>
            </p:cNvPr>
            <p:cNvSpPr>
              <a:spLocks/>
            </p:cNvSpPr>
            <p:nvPr/>
          </p:nvSpPr>
          <p:spPr>
            <a:xfrm rot="5400000">
              <a:off x="5288235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DCA556-F556-5369-6DE5-144680F3B090}"/>
                </a:ext>
              </a:extLst>
            </p:cNvPr>
            <p:cNvSpPr txBox="1">
              <a:spLocks/>
            </p:cNvSpPr>
            <p:nvPr/>
          </p:nvSpPr>
          <p:spPr>
            <a:xfrm>
              <a:off x="7959885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B24776-9733-E5D9-90BA-3D670EB72B92}"/>
                </a:ext>
              </a:extLst>
            </p:cNvPr>
            <p:cNvSpPr txBox="1">
              <a:spLocks/>
            </p:cNvSpPr>
            <p:nvPr/>
          </p:nvSpPr>
          <p:spPr>
            <a:xfrm>
              <a:off x="7598172" y="2205375"/>
              <a:ext cx="187245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Future </a:t>
              </a:r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Works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31330F5-0262-1EB4-DBBB-A39B3F000DA6}"/>
                </a:ext>
              </a:extLst>
            </p:cNvPr>
            <p:cNvSpPr txBox="1">
              <a:spLocks/>
            </p:cNvSpPr>
            <p:nvPr/>
          </p:nvSpPr>
          <p:spPr>
            <a:xfrm>
              <a:off x="7752079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future of IoT-Based agricultural system that improves day by day on integrating wireless connectivity like Wi-Fi or GSM allowing to monitor it.</a:t>
              </a:r>
            </a:p>
          </p:txBody>
        </p:sp>
        <p:pic>
          <p:nvPicPr>
            <p:cNvPr id="46" name="Graphic 45" descr="Group brainstorm with solid fill">
              <a:extLst>
                <a:ext uri="{FF2B5EF4-FFF2-40B4-BE49-F238E27FC236}">
                  <a16:creationId xmlns:a16="http://schemas.microsoft.com/office/drawing/2014/main" id="{2C16E669-11EE-FE2E-9BDE-9289F5F94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5568" y="5774027"/>
              <a:ext cx="656401" cy="65640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C752BD-CB26-348A-B2EF-4889A6E0ACEB}"/>
              </a:ext>
            </a:extLst>
          </p:cNvPr>
          <p:cNvGrpSpPr/>
          <p:nvPr/>
        </p:nvGrpSpPr>
        <p:grpSpPr>
          <a:xfrm>
            <a:off x="-1742219" y="0"/>
            <a:ext cx="2905237" cy="6858000"/>
            <a:chOff x="4899899" y="0"/>
            <a:chExt cx="2875280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676E1B7-2E82-B96A-5866-CEA57DBB0B30}"/>
                </a:ext>
              </a:extLst>
            </p:cNvPr>
            <p:cNvSpPr>
              <a:spLocks/>
            </p:cNvSpPr>
            <p:nvPr/>
          </p:nvSpPr>
          <p:spPr>
            <a:xfrm rot="5400000">
              <a:off x="2908539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934720 w 6858000"/>
                <a:gd name="connsiteY2" fmla="*/ 436880 h 2875280"/>
                <a:gd name="connsiteX3" fmla="*/ 1391920 w 6858000"/>
                <a:gd name="connsiteY3" fmla="*/ 0 h 2875280"/>
                <a:gd name="connsiteX4" fmla="*/ 184912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934720" y="436880"/>
                  </a:lnTo>
                  <a:lnTo>
                    <a:pt x="1391920" y="0"/>
                  </a:lnTo>
                  <a:lnTo>
                    <a:pt x="184912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FF1897-E070-72D6-9DF8-8A7A9F39EC77}"/>
                </a:ext>
              </a:extLst>
            </p:cNvPr>
            <p:cNvSpPr txBox="1">
              <a:spLocks/>
            </p:cNvSpPr>
            <p:nvPr/>
          </p:nvSpPr>
          <p:spPr>
            <a:xfrm>
              <a:off x="55214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159133F-3F3E-08A8-7D33-1556DC2A2B6C}"/>
                </a:ext>
              </a:extLst>
            </p:cNvPr>
            <p:cNvSpPr txBox="1">
              <a:spLocks/>
            </p:cNvSpPr>
            <p:nvPr/>
          </p:nvSpPr>
          <p:spPr>
            <a:xfrm>
              <a:off x="5159771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6DA3434-3DAE-CB98-E361-55146C6C75D3}"/>
                </a:ext>
              </a:extLst>
            </p:cNvPr>
            <p:cNvSpPr txBox="1">
              <a:spLocks/>
            </p:cNvSpPr>
            <p:nvPr/>
          </p:nvSpPr>
          <p:spPr>
            <a:xfrm>
              <a:off x="5313678" y="2851706"/>
              <a:ext cx="1564641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phases about a developed IoT-Based Smart Agricultural System using various gadgets to create a system for farmers  works less.</a:t>
              </a:r>
            </a:p>
            <a:p>
              <a:pPr algn="just"/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48" name="Graphic 47" descr="Lightbulb and gear with solid fill">
              <a:extLst>
                <a:ext uri="{FF2B5EF4-FFF2-40B4-BE49-F238E27FC236}">
                  <a16:creationId xmlns:a16="http://schemas.microsoft.com/office/drawing/2014/main" id="{51F22414-24F9-03FF-1413-C6FDF3720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19262" y="5703441"/>
              <a:ext cx="753476" cy="753476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73EEE1-0E97-873B-1457-70635A820E25}"/>
              </a:ext>
            </a:extLst>
          </p:cNvPr>
          <p:cNvGrpSpPr/>
          <p:nvPr/>
        </p:nvGrpSpPr>
        <p:grpSpPr>
          <a:xfrm>
            <a:off x="-1990904" y="0"/>
            <a:ext cx="2905237" cy="6858000"/>
            <a:chOff x="2438400" y="0"/>
            <a:chExt cx="2875280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3F147C-1DAD-5B37-637D-0A7D4DE6624C}"/>
                </a:ext>
              </a:extLst>
            </p:cNvPr>
            <p:cNvSpPr>
              <a:spLocks/>
            </p:cNvSpPr>
            <p:nvPr/>
          </p:nvSpPr>
          <p:spPr>
            <a:xfrm rot="5400000">
              <a:off x="447040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2AC52A-AB13-FE6E-9DF5-3480DDE57F60}"/>
                </a:ext>
              </a:extLst>
            </p:cNvPr>
            <p:cNvSpPr txBox="1">
              <a:spLocks/>
            </p:cNvSpPr>
            <p:nvPr/>
          </p:nvSpPr>
          <p:spPr>
            <a:xfrm>
              <a:off x="30830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A147B0-FB12-25BA-3E0C-5858100F1B2C}"/>
                </a:ext>
              </a:extLst>
            </p:cNvPr>
            <p:cNvSpPr txBox="1">
              <a:spLocks/>
            </p:cNvSpPr>
            <p:nvPr/>
          </p:nvSpPr>
          <p:spPr>
            <a:xfrm>
              <a:off x="2721371" y="2205375"/>
              <a:ext cx="1872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Aims &amp; Objectives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9F4656-B33A-BB0D-796A-09675602D134}"/>
                </a:ext>
              </a:extLst>
            </p:cNvPr>
            <p:cNvSpPr txBox="1">
              <a:spLocks/>
            </p:cNvSpPr>
            <p:nvPr/>
          </p:nvSpPr>
          <p:spPr>
            <a:xfrm>
              <a:off x="2875278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main aims and objectives of developing an IoT-based smart agricultural system to help farmers automate agricultural tasks in a very easy way.</a:t>
              </a:r>
            </a:p>
          </p:txBody>
        </p:sp>
        <p:pic>
          <p:nvPicPr>
            <p:cNvPr id="44" name="Graphic 43" descr="Flask with solid fill">
              <a:extLst>
                <a:ext uri="{FF2B5EF4-FFF2-40B4-BE49-F238E27FC236}">
                  <a16:creationId xmlns:a16="http://schemas.microsoft.com/office/drawing/2014/main" id="{46DD8784-81EE-379C-0FC1-A7FEB946F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9396" y="5769293"/>
              <a:ext cx="665868" cy="665868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1577B9-0DD5-B03D-FF23-B00E7348BF52}"/>
              </a:ext>
            </a:extLst>
          </p:cNvPr>
          <p:cNvGrpSpPr/>
          <p:nvPr/>
        </p:nvGrpSpPr>
        <p:grpSpPr>
          <a:xfrm>
            <a:off x="-2253484" y="0"/>
            <a:ext cx="2905237" cy="6858000"/>
            <a:chOff x="78275" y="0"/>
            <a:chExt cx="2875280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56C48A-5363-D6FF-1608-0575B118213A}"/>
                </a:ext>
              </a:extLst>
            </p:cNvPr>
            <p:cNvSpPr>
              <a:spLocks/>
            </p:cNvSpPr>
            <p:nvPr/>
          </p:nvSpPr>
          <p:spPr>
            <a:xfrm rot="5400000">
              <a:off x="-1913085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53FF78-446F-4895-3C8E-B2AEFB329DCB}"/>
                </a:ext>
              </a:extLst>
            </p:cNvPr>
            <p:cNvSpPr txBox="1">
              <a:spLocks/>
            </p:cNvSpPr>
            <p:nvPr/>
          </p:nvSpPr>
          <p:spPr>
            <a:xfrm>
              <a:off x="6446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919FAD-F907-5967-848B-5F35FAF99740}"/>
                </a:ext>
              </a:extLst>
            </p:cNvPr>
            <p:cNvSpPr txBox="1">
              <a:spLocks/>
            </p:cNvSpPr>
            <p:nvPr/>
          </p:nvSpPr>
          <p:spPr>
            <a:xfrm>
              <a:off x="282971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Introduction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6661A2-FBF1-480B-BAF7-E44C1FC6C4D9}"/>
                </a:ext>
              </a:extLst>
            </p:cNvPr>
            <p:cNvSpPr txBox="1">
              <a:spLocks/>
            </p:cNvSpPr>
            <p:nvPr/>
          </p:nvSpPr>
          <p:spPr>
            <a:xfrm>
              <a:off x="348970" y="2851706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Introduction about our project’s concept that connects everyday objects and devices to the internet enabling automated data collection. </a:t>
              </a:r>
            </a:p>
          </p:txBody>
        </p:sp>
        <p:pic>
          <p:nvPicPr>
            <p:cNvPr id="42" name="Graphic 41" descr="Fingerprint with solid fill">
              <a:extLst>
                <a:ext uri="{FF2B5EF4-FFF2-40B4-BE49-F238E27FC236}">
                  <a16:creationId xmlns:a16="http://schemas.microsoft.com/office/drawing/2014/main" id="{308DD12E-0471-2783-CBCA-F0571DC0C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4961" y="5792313"/>
              <a:ext cx="657878" cy="657878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EBB205B6-A536-0D54-51B2-8709401CE521}"/>
              </a:ext>
            </a:extLst>
          </p:cNvPr>
          <p:cNvSpPr txBox="1"/>
          <p:nvPr/>
        </p:nvSpPr>
        <p:spPr>
          <a:xfrm>
            <a:off x="3340100" y="2274838"/>
            <a:ext cx="6819900" cy="1938992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IoT Based Smart Irrigation System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C9E8B2-DC71-6B3F-3BBC-56311EB3A28D}"/>
              </a:ext>
            </a:extLst>
          </p:cNvPr>
          <p:cNvSpPr txBox="1"/>
          <p:nvPr/>
        </p:nvSpPr>
        <p:spPr>
          <a:xfrm>
            <a:off x="3477986" y="4653643"/>
            <a:ext cx="6482443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20097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938A43DF-D794-A880-BEE3-3754CFC069E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878614" y="0"/>
            <a:ext cx="2905237" cy="6858000"/>
            <a:chOff x="9747737" y="0"/>
            <a:chExt cx="2875280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D92274-C0C6-4F0C-51F1-62AA11CC18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7756377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934720 w 6858000"/>
                <a:gd name="connsiteY2" fmla="*/ 436880 h 2875280"/>
                <a:gd name="connsiteX3" fmla="*/ 1391920 w 6858000"/>
                <a:gd name="connsiteY3" fmla="*/ 0 h 2875280"/>
                <a:gd name="connsiteX4" fmla="*/ 184912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934720" y="436880"/>
                  </a:lnTo>
                  <a:lnTo>
                    <a:pt x="1391920" y="0"/>
                  </a:lnTo>
                  <a:lnTo>
                    <a:pt x="184912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46BBF7-AED3-1E63-C91C-3BA6454E8C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398283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7AB6E3-0B0F-EB60-B1F2-6BED8C0DD7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036572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Conclusion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520C0A3-2D54-5523-8702-3F74450381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90479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Adoption of IoT in agriculture explains a significant step towards modernizing traditional farming practices by utilizing real time data from sensors.</a:t>
              </a:r>
            </a:p>
          </p:txBody>
        </p:sp>
        <p:pic>
          <p:nvPicPr>
            <p:cNvPr id="50" name="Graphic 49" descr="Statistics with solid fill">
              <a:extLst>
                <a:ext uri="{FF2B5EF4-FFF2-40B4-BE49-F238E27FC236}">
                  <a16:creationId xmlns:a16="http://schemas.microsoft.com/office/drawing/2014/main" id="{86EA700F-913A-8CD0-7E9E-8DE72C3BA59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9020" y="5774027"/>
              <a:ext cx="694450" cy="69445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68A5891-B6D0-AA7E-3B51-424C006122A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09490" y="-12"/>
            <a:ext cx="2905237" cy="6858000"/>
            <a:chOff x="7279597" y="1"/>
            <a:chExt cx="2875280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69067C2-CA8B-624C-6630-5E448CB151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288237" y="1991361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DCA556-F556-5369-6DE5-144680F3B0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59885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B24776-9733-E5D9-90BA-3D670EB72B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98172" y="2205375"/>
              <a:ext cx="187245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Future </a:t>
              </a:r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Works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31330F5-0262-1EB4-DBBB-A39B3F000DA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52079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future of IoT-Based agricultural system that improves day by day on integrating wireless connectivity like Wi-Fi or GSM allowing to monitor it.</a:t>
              </a:r>
            </a:p>
          </p:txBody>
        </p:sp>
        <p:pic>
          <p:nvPicPr>
            <p:cNvPr id="46" name="Graphic 45" descr="Group brainstorm with solid fill">
              <a:extLst>
                <a:ext uri="{FF2B5EF4-FFF2-40B4-BE49-F238E27FC236}">
                  <a16:creationId xmlns:a16="http://schemas.microsoft.com/office/drawing/2014/main" id="{2C16E669-11EE-FE2E-9BDE-9289F5F94AE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5568" y="5774027"/>
              <a:ext cx="656401" cy="656401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C752BD-CB26-348A-B2EF-4889A6E0AC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53555" y="0"/>
            <a:ext cx="2905237" cy="6858000"/>
            <a:chOff x="4899899" y="0"/>
            <a:chExt cx="2875280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676E1B7-2E82-B96A-5866-CEA57DBB0B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2908539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934720 w 6858000"/>
                <a:gd name="connsiteY2" fmla="*/ 436880 h 2875280"/>
                <a:gd name="connsiteX3" fmla="*/ 1391920 w 6858000"/>
                <a:gd name="connsiteY3" fmla="*/ 0 h 2875280"/>
                <a:gd name="connsiteX4" fmla="*/ 184912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934720" y="436880"/>
                  </a:lnTo>
                  <a:lnTo>
                    <a:pt x="1391920" y="0"/>
                  </a:lnTo>
                  <a:lnTo>
                    <a:pt x="184912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FF1897-E070-72D6-9DF8-8A7A9F39EC7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214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159133F-3F3E-08A8-7D33-1556DC2A2B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59771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6DA3434-3DAE-CB98-E361-55146C6C75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3678" y="2851706"/>
              <a:ext cx="1564641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phases about a developed IoT-Based Smart Agricultural System using various gadgets to create a system for farmers  works less.</a:t>
              </a:r>
            </a:p>
            <a:p>
              <a:pPr algn="just"/>
              <a:endParaRPr lang="en-US" sz="1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48" name="Graphic 47" descr="Lightbulb and gear with solid fill">
              <a:extLst>
                <a:ext uri="{FF2B5EF4-FFF2-40B4-BE49-F238E27FC236}">
                  <a16:creationId xmlns:a16="http://schemas.microsoft.com/office/drawing/2014/main" id="{51F22414-24F9-03FF-1413-C6FDF3720F2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19262" y="5703441"/>
              <a:ext cx="753476" cy="753476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73EEE1-0E97-873B-1457-70635A820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473855" y="12"/>
            <a:ext cx="2905237" cy="6858000"/>
            <a:chOff x="2438400" y="0"/>
            <a:chExt cx="2875280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3F147C-1DAD-5B37-637D-0A7D4DE662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47040" y="1991360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2AC52A-AB13-FE6E-9DF5-3480DDE57F6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830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A147B0-FB12-25BA-3E0C-5858100F1B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21371" y="2205375"/>
              <a:ext cx="1872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Aims &amp; Objectives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9F4656-B33A-BB0D-796A-09675602D1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75278" y="2912457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The main aims and objectives of developing an IoT-based smart agricultural system to help farmers automate agricultural tasks in a very easy way.</a:t>
              </a:r>
            </a:p>
          </p:txBody>
        </p:sp>
        <p:pic>
          <p:nvPicPr>
            <p:cNvPr id="44" name="Graphic 43" descr="Flask with solid fill">
              <a:extLst>
                <a:ext uri="{FF2B5EF4-FFF2-40B4-BE49-F238E27FC236}">
                  <a16:creationId xmlns:a16="http://schemas.microsoft.com/office/drawing/2014/main" id="{46DD8784-81EE-379C-0FC1-A7FEB946FF2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79396" y="5769293"/>
              <a:ext cx="665868" cy="665868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1577B9-0DD5-B03D-FF23-B00E7348BF5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31" y="0"/>
            <a:ext cx="2905237" cy="6858000"/>
            <a:chOff x="78274" y="1"/>
            <a:chExt cx="2875280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56C48A-5363-D6FF-1608-0575B11821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-1913086" y="1991361"/>
              <a:ext cx="6858000" cy="2875280"/>
            </a:xfrm>
            <a:custGeom>
              <a:avLst/>
              <a:gdLst>
                <a:gd name="connsiteX0" fmla="*/ 0 w 6858000"/>
                <a:gd name="connsiteY0" fmla="*/ 2875280 h 2875280"/>
                <a:gd name="connsiteX1" fmla="*/ 0 w 6858000"/>
                <a:gd name="connsiteY1" fmla="*/ 436880 h 2875280"/>
                <a:gd name="connsiteX2" fmla="*/ 1005840 w 6858000"/>
                <a:gd name="connsiteY2" fmla="*/ 436880 h 2875280"/>
                <a:gd name="connsiteX3" fmla="*/ 1463040 w 6858000"/>
                <a:gd name="connsiteY3" fmla="*/ 0 h 2875280"/>
                <a:gd name="connsiteX4" fmla="*/ 1920240 w 6858000"/>
                <a:gd name="connsiteY4" fmla="*/ 436880 h 2875280"/>
                <a:gd name="connsiteX5" fmla="*/ 6858000 w 6858000"/>
                <a:gd name="connsiteY5" fmla="*/ 436880 h 2875280"/>
                <a:gd name="connsiteX6" fmla="*/ 6858000 w 6858000"/>
                <a:gd name="connsiteY6" fmla="*/ 2875280 h 287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2875280">
                  <a:moveTo>
                    <a:pt x="0" y="2875280"/>
                  </a:moveTo>
                  <a:lnTo>
                    <a:pt x="0" y="436880"/>
                  </a:lnTo>
                  <a:lnTo>
                    <a:pt x="1005840" y="436880"/>
                  </a:lnTo>
                  <a:lnTo>
                    <a:pt x="1463040" y="0"/>
                  </a:lnTo>
                  <a:lnTo>
                    <a:pt x="1920240" y="436880"/>
                  </a:lnTo>
                  <a:lnTo>
                    <a:pt x="6858000" y="436880"/>
                  </a:lnTo>
                  <a:lnTo>
                    <a:pt x="6858000" y="287528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53FF78-446F-4895-3C8E-B2AEFB329D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4684" y="476250"/>
              <a:ext cx="114903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b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919FAD-F907-5967-848B-5F35FAF997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2971" y="2205375"/>
              <a:ext cx="1872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Introduction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6661A2-FBF1-480B-BAF7-E44C1FC6C4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8970" y="2851706"/>
              <a:ext cx="156464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Introduction about our project’s concept that connects everyday objects and devices to the internet enabling automated data collection. </a:t>
              </a:r>
            </a:p>
          </p:txBody>
        </p:sp>
        <p:pic>
          <p:nvPicPr>
            <p:cNvPr id="42" name="Graphic 41" descr="Fingerprint with solid fill">
              <a:extLst>
                <a:ext uri="{FF2B5EF4-FFF2-40B4-BE49-F238E27FC236}">
                  <a16:creationId xmlns:a16="http://schemas.microsoft.com/office/drawing/2014/main" id="{308DD12E-0471-2783-CBCA-F0571DC0C7C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4961" y="5792313"/>
              <a:ext cx="657878" cy="657878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6FF147E-C86E-9A95-69CD-09BB24F4FF87}"/>
              </a:ext>
            </a:extLst>
          </p:cNvPr>
          <p:cNvSpPr txBox="1"/>
          <p:nvPr/>
        </p:nvSpPr>
        <p:spPr>
          <a:xfrm>
            <a:off x="12770661" y="2196350"/>
            <a:ext cx="6819900" cy="1938992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IoT Based Smart Irrigation System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99D803-9F6F-96AC-86F0-D1D2E887182F}"/>
              </a:ext>
            </a:extLst>
          </p:cNvPr>
          <p:cNvSpPr txBox="1"/>
          <p:nvPr/>
        </p:nvSpPr>
        <p:spPr>
          <a:xfrm>
            <a:off x="12908547" y="4575155"/>
            <a:ext cx="6482443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715896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C06C4-B4AB-DF4D-D2C5-B9E58BE6C195}"/>
              </a:ext>
            </a:extLst>
          </p:cNvPr>
          <p:cNvSpPr txBox="1"/>
          <p:nvPr/>
        </p:nvSpPr>
        <p:spPr>
          <a:xfrm>
            <a:off x="482600" y="1681843"/>
            <a:ext cx="10922000" cy="230832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Project Green [Group members]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Erick Pradhan (Leader)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Papit Ghimire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Sangam Pandey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Saket Yadav</a:t>
            </a:r>
          </a:p>
        </p:txBody>
      </p:sp>
    </p:spTree>
    <p:extLst>
      <p:ext uri="{BB962C8B-B14F-4D97-AF65-F5344CB8AC3E}">
        <p14:creationId xmlns:p14="http://schemas.microsoft.com/office/powerpoint/2010/main" val="1695453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Aims &amp;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1B28C-A27F-A2F3-AB4C-951C91350701}"/>
              </a:ext>
            </a:extLst>
          </p:cNvPr>
          <p:cNvSpPr txBox="1"/>
          <p:nvPr/>
        </p:nvSpPr>
        <p:spPr>
          <a:xfrm>
            <a:off x="622300" y="1409700"/>
            <a:ext cx="10871200" cy="452431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The main aim of our project is to develop an IoT-Based smart agricultural system to help farmers automate agricultural tasks.</a:t>
            </a:r>
            <a:b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</a:br>
            <a:endParaRPr lang="en-US" sz="24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To develop a soil moisture monitoring system that automatically activates irrigation based on real-time moisture levels ensuring crops are provided with the right amount of water preventing from over irrigation.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To provide a user-friendly application to farmers to monitor the conditions remotely and receive alerts if any parameters go out of the expected range, potentially harming the crops.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To monitor the water supply in storage tanks to optimize water usage and prevent shortages.</a:t>
            </a:r>
          </a:p>
        </p:txBody>
      </p:sp>
    </p:spTree>
    <p:extLst>
      <p:ext uri="{BB962C8B-B14F-4D97-AF65-F5344CB8AC3E}">
        <p14:creationId xmlns:p14="http://schemas.microsoft.com/office/powerpoint/2010/main" val="65252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1F830-CDE2-1CD6-1C98-D07616E7FDC8}"/>
              </a:ext>
            </a:extLst>
          </p:cNvPr>
          <p:cNvSpPr txBox="1"/>
          <p:nvPr/>
        </p:nvSpPr>
        <p:spPr>
          <a:xfrm>
            <a:off x="622300" y="1409700"/>
            <a:ext cx="10871200" cy="3908762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Hardware Components:</a:t>
            </a:r>
          </a:p>
          <a:p>
            <a:pPr algn="just"/>
            <a:endParaRPr lang="en-US" sz="28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DHT 11 Sensor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Ultrasonic Sensor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Soil Moisture Sensor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Water Pump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Relay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Buzzer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ESP-32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Breadboard</a:t>
            </a:r>
          </a:p>
        </p:txBody>
      </p:sp>
    </p:spTree>
    <p:extLst>
      <p:ext uri="{BB962C8B-B14F-4D97-AF65-F5344CB8AC3E}">
        <p14:creationId xmlns:p14="http://schemas.microsoft.com/office/powerpoint/2010/main" val="3731659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1F830-CDE2-1CD6-1C98-D07616E7FDC8}"/>
              </a:ext>
            </a:extLst>
          </p:cNvPr>
          <p:cNvSpPr txBox="1"/>
          <p:nvPr/>
        </p:nvSpPr>
        <p:spPr>
          <a:xfrm>
            <a:off x="622300" y="1409700"/>
            <a:ext cx="10871200" cy="22467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Software Components:</a:t>
            </a:r>
          </a:p>
          <a:p>
            <a:pPr algn="just"/>
            <a:endParaRPr lang="en-US" sz="28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Blynk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Arduino IDE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Fritzing</a:t>
            </a:r>
          </a:p>
        </p:txBody>
      </p:sp>
    </p:spTree>
    <p:extLst>
      <p:ext uri="{BB962C8B-B14F-4D97-AF65-F5344CB8AC3E}">
        <p14:creationId xmlns:p14="http://schemas.microsoft.com/office/powerpoint/2010/main" val="34507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2F39-8644-EB31-81FD-2DFFF5605523}"/>
              </a:ext>
            </a:extLst>
          </p:cNvPr>
          <p:cNvSpPr txBox="1"/>
          <p:nvPr/>
        </p:nvSpPr>
        <p:spPr>
          <a:xfrm>
            <a:off x="622300" y="1397000"/>
            <a:ext cx="10871200" cy="52322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Hardware Architecture:</a:t>
            </a:r>
          </a:p>
        </p:txBody>
      </p:sp>
      <p:pic>
        <p:nvPicPr>
          <p:cNvPr id="6" name="Picture 5" descr="A diagram of a computer component&#10;&#10;AI-generated content may be incorrect.">
            <a:extLst>
              <a:ext uri="{FF2B5EF4-FFF2-40B4-BE49-F238E27FC236}">
                <a16:creationId xmlns:a16="http://schemas.microsoft.com/office/drawing/2014/main" id="{19800B21-9480-33FC-A28A-6CFAB6ACF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489" y="1899453"/>
            <a:ext cx="6405021" cy="459013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7019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2F39-8644-EB31-81FD-2DFFF5605523}"/>
              </a:ext>
            </a:extLst>
          </p:cNvPr>
          <p:cNvSpPr txBox="1"/>
          <p:nvPr/>
        </p:nvSpPr>
        <p:spPr>
          <a:xfrm>
            <a:off x="622300" y="1397000"/>
            <a:ext cx="10871200" cy="52322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Circuit Diagram:</a:t>
            </a:r>
          </a:p>
        </p:txBody>
      </p:sp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0B32841C-DC11-F0AA-6B02-121028FD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800" y="2031999"/>
            <a:ext cx="8224300" cy="41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2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2F39-8644-EB31-81FD-2DFFF5605523}"/>
              </a:ext>
            </a:extLst>
          </p:cNvPr>
          <p:cNvSpPr txBox="1"/>
          <p:nvPr/>
        </p:nvSpPr>
        <p:spPr>
          <a:xfrm>
            <a:off x="622300" y="1397000"/>
            <a:ext cx="10871200" cy="52322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Blynk: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D78D-3AF5-9A6B-BBF3-38B5DDA0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75" y="1920220"/>
            <a:ext cx="8375650" cy="45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56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Future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1B28C-A27F-A2F3-AB4C-951C91350701}"/>
              </a:ext>
            </a:extLst>
          </p:cNvPr>
          <p:cNvSpPr txBox="1"/>
          <p:nvPr/>
        </p:nvSpPr>
        <p:spPr>
          <a:xfrm>
            <a:off x="622300" y="1409700"/>
            <a:ext cx="10871200" cy="1938992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Further improvements include using advanced sensors(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eg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 pH , rain sensors and AI  based features like plant disease detection and adaptive decision-making . Solar panels can also be introduced to power the system sustainably, making it eco-friendly and ideal for remote or off-grid areas</a:t>
            </a:r>
          </a:p>
        </p:txBody>
      </p:sp>
    </p:spTree>
    <p:extLst>
      <p:ext uri="{BB962C8B-B14F-4D97-AF65-F5344CB8AC3E}">
        <p14:creationId xmlns:p14="http://schemas.microsoft.com/office/powerpoint/2010/main" val="869152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81765-FE98-94EC-BAC0-3431E6A33297}"/>
              </a:ext>
            </a:extLst>
          </p:cNvPr>
          <p:cNvSpPr txBox="1"/>
          <p:nvPr/>
        </p:nvSpPr>
        <p:spPr>
          <a:xfrm>
            <a:off x="482600" y="462643"/>
            <a:ext cx="4562929" cy="58477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1B28C-A27F-A2F3-AB4C-951C91350701}"/>
              </a:ext>
            </a:extLst>
          </p:cNvPr>
          <p:cNvSpPr txBox="1"/>
          <p:nvPr/>
        </p:nvSpPr>
        <p:spPr>
          <a:xfrm>
            <a:off x="622300" y="1409700"/>
            <a:ext cx="10871200" cy="452431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The adoption of IoT in agriculture marks a transformative shift from traditional to smart farming by enabling real-time monitoring and data-driven decisions. It enhances irrigation efficiency, reduces manual labor, and improves resource management. Tools like Blynk allow remote monitoring, increasing convenience and minimizing crop loss due to unpredictable weather. </a:t>
            </a:r>
          </a:p>
          <a:p>
            <a:pPr algn="just"/>
            <a:endParaRPr lang="en-US" sz="24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algn="just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As seen in the case study, IoT systems significantly boost yield and sustainability. Looking ahead, integrating AI and renewable energy can further advance eco-friendly, efficient farming. This evolution ensures a more productive and sustainable future for global agriculture.</a:t>
            </a:r>
          </a:p>
        </p:txBody>
      </p:sp>
    </p:spTree>
    <p:extLst>
      <p:ext uri="{BB962C8B-B14F-4D97-AF65-F5344CB8AC3E}">
        <p14:creationId xmlns:p14="http://schemas.microsoft.com/office/powerpoint/2010/main" val="380608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EBB205B6-A536-0D54-51B2-8709401CE521}"/>
              </a:ext>
            </a:extLst>
          </p:cNvPr>
          <p:cNvSpPr txBox="1"/>
          <p:nvPr/>
        </p:nvSpPr>
        <p:spPr>
          <a:xfrm>
            <a:off x="2686050" y="2921168"/>
            <a:ext cx="6819900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Any feedbacks…?</a:t>
            </a:r>
          </a:p>
        </p:txBody>
      </p:sp>
    </p:spTree>
    <p:extLst>
      <p:ext uri="{BB962C8B-B14F-4D97-AF65-F5344CB8AC3E}">
        <p14:creationId xmlns:p14="http://schemas.microsoft.com/office/powerpoint/2010/main" val="3620336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28000">
              <a:schemeClr val="tx2">
                <a:lumMod val="50000"/>
                <a:lumOff val="50000"/>
              </a:schemeClr>
            </a:gs>
            <a:gs pos="73000">
              <a:schemeClr val="accent1">
                <a:lumMod val="75000"/>
              </a:schemeClr>
            </a:gs>
            <a:gs pos="95000">
              <a:schemeClr val="tx2">
                <a:lumMod val="90000"/>
                <a:lumOff val="1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EBB205B6-A536-0D54-51B2-8709401CE521}"/>
              </a:ext>
            </a:extLst>
          </p:cNvPr>
          <p:cNvSpPr txBox="1"/>
          <p:nvPr/>
        </p:nvSpPr>
        <p:spPr>
          <a:xfrm>
            <a:off x="2686050" y="2921168"/>
            <a:ext cx="6819900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27652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570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Vanitas _7</dc:creator>
  <cp:lastModifiedBy>Vanitas _7</cp:lastModifiedBy>
  <cp:revision>2</cp:revision>
  <dcterms:created xsi:type="dcterms:W3CDTF">2025-05-25T06:38:09Z</dcterms:created>
  <dcterms:modified xsi:type="dcterms:W3CDTF">2025-05-25T09:39:44Z</dcterms:modified>
</cp:coreProperties>
</file>